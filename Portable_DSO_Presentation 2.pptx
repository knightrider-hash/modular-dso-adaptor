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3" r:id="rId9"/>
    <p:sldId id="266" r:id="rId10"/>
    <p:sldId id="267" r:id="rId11"/>
    <p:sldId id="26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6793" y="1671569"/>
            <a:ext cx="5800406" cy="2228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/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Portable Digital Storage Oscilloscope (DSO) Project</a:t>
            </a:r>
          </a:p>
        </p:txBody>
      </p:sp>
      <p:pic>
        <p:nvPicPr>
          <p:cNvPr id="14" name="Graphic 13" descr="Scanner">
            <a:extLst>
              <a:ext uri="{FF2B5EF4-FFF2-40B4-BE49-F238E27FC236}">
                <a16:creationId xmlns:a16="http://schemas.microsoft.com/office/drawing/2014/main" id="{CF46F2DD-7C4A-E93F-33E5-F550F5958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756" y="2694174"/>
            <a:ext cx="1198219" cy="11982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87199" y="4935342"/>
            <a:ext cx="3614567" cy="172298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000" dirty="0"/>
              <a:t>Presented by :   Gopanandhan P 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 dirty="0"/>
              <a:t>                                 Yazin Faisal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 dirty="0"/>
              <a:t>                                 Sebin </a:t>
            </a:r>
            <a:r>
              <a:rPr lang="en-US" sz="2000" dirty="0" err="1"/>
              <a:t>Sibichan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16" name="Graphic 15" descr="Scanner">
            <a:extLst>
              <a:ext uri="{FF2B5EF4-FFF2-40B4-BE49-F238E27FC236}">
                <a16:creationId xmlns:a16="http://schemas.microsoft.com/office/drawing/2014/main" id="{83516BE8-8F79-4AA7-8B79-8ECC987A9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9701" y="817017"/>
            <a:ext cx="5223966" cy="5223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" y="325369"/>
            <a:ext cx="4367464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/>
            </a:pPr>
            <a:r>
              <a:rPr lang="en-US" sz="5300"/>
              <a:t>Abstract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913" y="2586994"/>
            <a:ext cx="3473815" cy="18288"/>
          </a:xfrm>
          <a:custGeom>
            <a:avLst/>
            <a:gdLst>
              <a:gd name="csX0" fmla="*/ 0 w 3473815"/>
              <a:gd name="csY0" fmla="*/ 0 h 18288"/>
              <a:gd name="csX1" fmla="*/ 694763 w 3473815"/>
              <a:gd name="csY1" fmla="*/ 0 h 18288"/>
              <a:gd name="csX2" fmla="*/ 1354788 w 3473815"/>
              <a:gd name="csY2" fmla="*/ 0 h 18288"/>
              <a:gd name="csX3" fmla="*/ 2014813 w 3473815"/>
              <a:gd name="csY3" fmla="*/ 0 h 18288"/>
              <a:gd name="csX4" fmla="*/ 2779052 w 3473815"/>
              <a:gd name="csY4" fmla="*/ 0 h 18288"/>
              <a:gd name="csX5" fmla="*/ 3473815 w 3473815"/>
              <a:gd name="csY5" fmla="*/ 0 h 18288"/>
              <a:gd name="csX6" fmla="*/ 3473815 w 3473815"/>
              <a:gd name="csY6" fmla="*/ 18288 h 18288"/>
              <a:gd name="csX7" fmla="*/ 2779052 w 3473815"/>
              <a:gd name="csY7" fmla="*/ 18288 h 18288"/>
              <a:gd name="csX8" fmla="*/ 2188503 w 3473815"/>
              <a:gd name="csY8" fmla="*/ 18288 h 18288"/>
              <a:gd name="csX9" fmla="*/ 1528479 w 3473815"/>
              <a:gd name="csY9" fmla="*/ 18288 h 18288"/>
              <a:gd name="csX10" fmla="*/ 868454 w 3473815"/>
              <a:gd name="csY10" fmla="*/ 18288 h 18288"/>
              <a:gd name="csX11" fmla="*/ 0 w 3473815"/>
              <a:gd name="csY11" fmla="*/ 18288 h 18288"/>
              <a:gd name="csX12" fmla="*/ 0 w 3473815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3815" h="18288" fill="none" extrusionOk="0">
                <a:moveTo>
                  <a:pt x="0" y="0"/>
                </a:moveTo>
                <a:cubicBezTo>
                  <a:pt x="182906" y="5222"/>
                  <a:pt x="525212" y="15044"/>
                  <a:pt x="694763" y="0"/>
                </a:cubicBezTo>
                <a:cubicBezTo>
                  <a:pt x="864314" y="-15044"/>
                  <a:pt x="1095979" y="-25460"/>
                  <a:pt x="1354788" y="0"/>
                </a:cubicBezTo>
                <a:cubicBezTo>
                  <a:pt x="1613597" y="25460"/>
                  <a:pt x="1827465" y="3076"/>
                  <a:pt x="2014813" y="0"/>
                </a:cubicBezTo>
                <a:cubicBezTo>
                  <a:pt x="2202162" y="-3076"/>
                  <a:pt x="2561462" y="29782"/>
                  <a:pt x="2779052" y="0"/>
                </a:cubicBezTo>
                <a:cubicBezTo>
                  <a:pt x="2996642" y="-29782"/>
                  <a:pt x="3260877" y="-7505"/>
                  <a:pt x="3473815" y="0"/>
                </a:cubicBezTo>
                <a:cubicBezTo>
                  <a:pt x="3473381" y="7551"/>
                  <a:pt x="3473348" y="9822"/>
                  <a:pt x="3473815" y="18288"/>
                </a:cubicBezTo>
                <a:cubicBezTo>
                  <a:pt x="3221493" y="35914"/>
                  <a:pt x="2987895" y="39816"/>
                  <a:pt x="2779052" y="18288"/>
                </a:cubicBezTo>
                <a:cubicBezTo>
                  <a:pt x="2570209" y="-3240"/>
                  <a:pt x="2343602" y="7168"/>
                  <a:pt x="2188503" y="18288"/>
                </a:cubicBezTo>
                <a:cubicBezTo>
                  <a:pt x="2033404" y="29408"/>
                  <a:pt x="1812100" y="18034"/>
                  <a:pt x="1528479" y="18288"/>
                </a:cubicBezTo>
                <a:cubicBezTo>
                  <a:pt x="1244858" y="18542"/>
                  <a:pt x="1155493" y="-1402"/>
                  <a:pt x="868454" y="18288"/>
                </a:cubicBezTo>
                <a:cubicBezTo>
                  <a:pt x="581415" y="37978"/>
                  <a:pt x="215843" y="-23060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3815" h="18288" stroke="0" extrusionOk="0">
                <a:moveTo>
                  <a:pt x="0" y="0"/>
                </a:moveTo>
                <a:cubicBezTo>
                  <a:pt x="242785" y="-29423"/>
                  <a:pt x="378998" y="-19420"/>
                  <a:pt x="625287" y="0"/>
                </a:cubicBezTo>
                <a:cubicBezTo>
                  <a:pt x="871576" y="19420"/>
                  <a:pt x="1067984" y="20453"/>
                  <a:pt x="1389526" y="0"/>
                </a:cubicBezTo>
                <a:cubicBezTo>
                  <a:pt x="1711068" y="-20453"/>
                  <a:pt x="1750898" y="12571"/>
                  <a:pt x="1980075" y="0"/>
                </a:cubicBezTo>
                <a:cubicBezTo>
                  <a:pt x="2209252" y="-12571"/>
                  <a:pt x="2443074" y="-14077"/>
                  <a:pt x="2570623" y="0"/>
                </a:cubicBezTo>
                <a:cubicBezTo>
                  <a:pt x="2698172" y="14077"/>
                  <a:pt x="3135362" y="-35726"/>
                  <a:pt x="3473815" y="0"/>
                </a:cubicBezTo>
                <a:cubicBezTo>
                  <a:pt x="3473733" y="4406"/>
                  <a:pt x="3473726" y="9982"/>
                  <a:pt x="3473815" y="18288"/>
                </a:cubicBezTo>
                <a:cubicBezTo>
                  <a:pt x="3180355" y="10141"/>
                  <a:pt x="2981436" y="-5889"/>
                  <a:pt x="2813790" y="18288"/>
                </a:cubicBezTo>
                <a:cubicBezTo>
                  <a:pt x="2646145" y="42465"/>
                  <a:pt x="2412345" y="4786"/>
                  <a:pt x="2153765" y="18288"/>
                </a:cubicBezTo>
                <a:cubicBezTo>
                  <a:pt x="1895186" y="31790"/>
                  <a:pt x="1663932" y="40265"/>
                  <a:pt x="1493740" y="18288"/>
                </a:cubicBezTo>
                <a:cubicBezTo>
                  <a:pt x="1323549" y="-3689"/>
                  <a:pt x="925140" y="-7542"/>
                  <a:pt x="729501" y="18288"/>
                </a:cubicBezTo>
                <a:cubicBezTo>
                  <a:pt x="533862" y="44118"/>
                  <a:pt x="281408" y="3492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9913" y="2872899"/>
            <a:ext cx="4242484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• What is a DSO?</a:t>
            </a:r>
            <a:br>
              <a:rPr lang="en-US" sz="2200"/>
            </a:br>
            <a:r>
              <a:rPr lang="en-US" sz="2200"/>
              <a:t>• Why build a portable version?</a:t>
            </a:r>
            <a:br>
              <a:rPr lang="en-US" sz="2200"/>
            </a:br>
            <a:r>
              <a:rPr lang="en-US" sz="2200"/>
              <a:t>• Goals: Low-cost, DIY oscilloscope for students and hobbyists</a:t>
            </a:r>
            <a:br>
              <a:rPr lang="en-US" sz="2200"/>
            </a:br>
            <a:br>
              <a:rPr lang="en-US" sz="2200"/>
            </a:br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7EE9B-3C61-DDD5-3F9C-BE28FA2DFD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" r="-3" b="-3"/>
          <a:stretch>
            <a:fillRect/>
          </a:stretch>
        </p:blipFill>
        <p:spPr>
          <a:xfrm>
            <a:off x="5310318" y="10"/>
            <a:ext cx="6876984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40080"/>
            <a:ext cx="4817633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/>
            </a:pPr>
            <a:r>
              <a:rPr lang="en-US" sz="5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372868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0771" y="2660904"/>
            <a:ext cx="4817633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• Real-time signal monitoring</a:t>
            </a:r>
            <a:br>
              <a:rPr lang="en-US" sz="2200"/>
            </a:br>
            <a:r>
              <a:rPr lang="en-US" sz="2200"/>
              <a:t>• Affordable and portable solution</a:t>
            </a:r>
            <a:br>
              <a:rPr lang="en-US" sz="2200"/>
            </a:br>
            <a:r>
              <a:rPr lang="en-US" sz="2200"/>
              <a:t>• Educational use for students</a:t>
            </a:r>
            <a:br>
              <a:rPr lang="en-US" sz="2200"/>
            </a:br>
            <a:r>
              <a:rPr lang="en-US" sz="2200"/>
              <a:t>• Debugging/testing circuits</a:t>
            </a:r>
            <a:br>
              <a:rPr lang="en-US" sz="2200"/>
            </a:br>
            <a:br>
              <a:rPr lang="en-US" sz="2200"/>
            </a:br>
            <a:endParaRPr lang="en-US" sz="2200"/>
          </a:p>
        </p:txBody>
      </p:sp>
      <p:pic>
        <p:nvPicPr>
          <p:cNvPr id="7" name="Picture 6" descr="A black background with yellow lines&#10;&#10;AI-generated content may be incorrect.">
            <a:extLst>
              <a:ext uri="{FF2B5EF4-FFF2-40B4-BE49-F238E27FC236}">
                <a16:creationId xmlns:a16="http://schemas.microsoft.com/office/drawing/2014/main" id="{61CF7391-E646-D487-A9DF-9467382E62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278"/>
          <a:stretch>
            <a:fillRect/>
          </a:stretch>
        </p:blipFill>
        <p:spPr>
          <a:xfrm>
            <a:off x="6097459" y="1614883"/>
            <a:ext cx="5457547" cy="3628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552741"/>
            <a:ext cx="3998930" cy="16907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600" b="1"/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Major </a:t>
            </a:r>
            <a:r>
              <a:rPr lang="en-US" sz="40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981" y="2400475"/>
            <a:ext cx="3998930" cy="3721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 dirty="0"/>
              <a:t>• ESP32 Development Board (12-bit ADC, Wi-Fi/Bluetooth)</a:t>
            </a:r>
            <a:br>
              <a:rPr lang="en-US" sz="2000" dirty="0"/>
            </a:br>
            <a:r>
              <a:rPr lang="en-US" sz="2000" dirty="0"/>
              <a:t>• Resistors (100kΩ)</a:t>
            </a:r>
            <a:br>
              <a:rPr lang="en-US" sz="2000" dirty="0"/>
            </a:br>
            <a:r>
              <a:rPr lang="en-US" sz="2000" dirty="0"/>
              <a:t>• Capacitors (10µF, 100nF)</a:t>
            </a:r>
            <a:br>
              <a:rPr lang="en-US" sz="2000" dirty="0"/>
            </a:br>
            <a:r>
              <a:rPr lang="en-US" sz="2000" dirty="0"/>
              <a:t>• Diodes (general-purpose)</a:t>
            </a:r>
            <a:br>
              <a:rPr lang="en-US" sz="2000" dirty="0"/>
            </a:br>
            <a:r>
              <a:rPr lang="en-US" sz="2000" dirty="0"/>
              <a:t>• PCB + Power supply (3.3V)</a:t>
            </a:r>
            <a:br>
              <a:rPr lang="en-US" sz="2000" dirty="0"/>
            </a:br>
            <a:r>
              <a:rPr lang="en-US" sz="2000" dirty="0"/>
              <a:t>• Signal source (sine wave input)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000" dirty="0"/>
              <a:t>Monitor(Laptop)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D21713-A1EA-CC88-9224-2F12DB81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579" y="903115"/>
            <a:ext cx="3324252" cy="3000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8DC3B8-9BDE-C54D-32B6-4F8D56609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210" y="1243851"/>
            <a:ext cx="3324252" cy="2659401"/>
          </a:xfrm>
          <a:prstGeom prst="rect">
            <a:avLst/>
          </a:prstGeom>
        </p:spPr>
      </p:pic>
      <p:pic>
        <p:nvPicPr>
          <p:cNvPr id="10" name="Picture 9" descr="A close-up of a capacitor&#10;&#10;AI-generated content may be incorrect.">
            <a:extLst>
              <a:ext uri="{FF2B5EF4-FFF2-40B4-BE49-F238E27FC236}">
                <a16:creationId xmlns:a16="http://schemas.microsoft.com/office/drawing/2014/main" id="{E8393EEE-725D-8C16-2523-F9245DD13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971" y="4063564"/>
            <a:ext cx="1626420" cy="2227974"/>
          </a:xfrm>
          <a:prstGeom prst="rect">
            <a:avLst/>
          </a:prstGeom>
        </p:spPr>
      </p:pic>
      <p:pic>
        <p:nvPicPr>
          <p:cNvPr id="6" name="Picture 5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2BA52F1F-EA1A-5661-FFD2-C4B2486A5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683" y="4061443"/>
            <a:ext cx="1678899" cy="22279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3E990E-1AF3-1913-31DD-FCAEEC8B6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2603" y="4135425"/>
            <a:ext cx="2151858" cy="21518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2488" y="190782"/>
            <a:ext cx="4808136" cy="669907"/>
          </a:xfrm>
        </p:spPr>
        <p:txBody>
          <a:bodyPr/>
          <a:lstStyle/>
          <a:p>
            <a:pPr>
              <a:defRPr sz="3600" b="1"/>
            </a:pPr>
            <a:r>
              <a:rPr dirty="0"/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8735" y="704205"/>
            <a:ext cx="11430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/>
            </a:pPr>
            <a:r>
              <a:rPr dirty="0"/>
              <a:t>• ESP32 samples analog signals at 10 kHz</a:t>
            </a:r>
            <a:br>
              <a:rPr dirty="0"/>
            </a:br>
            <a:r>
              <a:rPr dirty="0"/>
              <a:t>• Sends data via serial to PC</a:t>
            </a:r>
            <a:br>
              <a:rPr dirty="0"/>
            </a:br>
            <a:r>
              <a:rPr dirty="0"/>
              <a:t>• Python GUI plots waveform and</a:t>
            </a:r>
            <a:endParaRPr lang="en-IN" dirty="0"/>
          </a:p>
          <a:p>
            <a:pPr>
              <a:defRPr sz="2400"/>
            </a:pPr>
            <a:r>
              <a:rPr dirty="0"/>
              <a:t> calculates </a:t>
            </a:r>
            <a:r>
              <a:rPr dirty="0" err="1"/>
              <a:t>Vpp</a:t>
            </a:r>
            <a:r>
              <a:rPr dirty="0"/>
              <a:t>, frequency</a:t>
            </a:r>
            <a:br>
              <a:rPr dirty="0"/>
            </a:br>
            <a:br>
              <a:rPr dirty="0"/>
            </a:br>
            <a:endParaRPr dirty="0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C65A6F6-1FB7-F1AC-7E15-C4EB18709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1" y="2474008"/>
            <a:ext cx="4041998" cy="963251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B5167E6-561B-54A3-0013-9C5431E25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35" y="3098665"/>
            <a:ext cx="5287858" cy="1301845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41C7EC-8B7E-512D-89F5-6C3C3FAEF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58" y="4209592"/>
            <a:ext cx="4773582" cy="963251"/>
          </a:xfrm>
          <a:prstGeom prst="rect">
            <a:avLst/>
          </a:prstGeom>
        </p:spPr>
      </p:pic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BA68BD4-E8C6-3E07-1C96-50459433C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71" y="4891657"/>
            <a:ext cx="5151887" cy="126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B3BF54-7214-0845-DCCB-677E730BB4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593" y="1344184"/>
            <a:ext cx="6594253" cy="45541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89841A-9745-48B0-1E3E-EBC0016C9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3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760F33-1BFD-34E5-96FF-9F5E6BA34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45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19" y="133961"/>
            <a:ext cx="2426677" cy="1143000"/>
          </a:xfrm>
        </p:spPr>
        <p:txBody>
          <a:bodyPr/>
          <a:lstStyle/>
          <a:p>
            <a:pPr>
              <a:defRPr sz="3600" b="1"/>
            </a:pPr>
            <a:r>
              <a:rPr dirty="0"/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449" y="858698"/>
            <a:ext cx="1143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/>
            </a:pPr>
            <a:r>
              <a:rPr dirty="0"/>
              <a:t>• Real-time waveform plotting</a:t>
            </a:r>
            <a:br>
              <a:rPr dirty="0"/>
            </a:br>
            <a:r>
              <a:rPr dirty="0"/>
              <a:t>• High-speed sampling (10 kHz)</a:t>
            </a:r>
            <a:br>
              <a:rPr dirty="0"/>
            </a:br>
            <a:r>
              <a:rPr dirty="0"/>
              <a:t>• Portable and affordable solution</a:t>
            </a:r>
            <a:br>
              <a:rPr dirty="0"/>
            </a:br>
            <a:r>
              <a:rPr dirty="0"/>
              <a:t>• Measurements: </a:t>
            </a:r>
            <a:r>
              <a:rPr dirty="0" err="1"/>
              <a:t>Vpp</a:t>
            </a:r>
            <a:r>
              <a:rPr dirty="0"/>
              <a:t>, Frequency estimation</a:t>
            </a:r>
            <a:br>
              <a:rPr dirty="0"/>
            </a:br>
            <a:endParaRPr dirty="0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397ADE5-81C6-BAFC-79F8-470C90FE3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25" y="2772331"/>
            <a:ext cx="2883658" cy="963251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5B44A58-FFAF-E635-1AE9-64B18DDC9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25" y="3429000"/>
            <a:ext cx="4677066" cy="1367142"/>
          </a:xfrm>
          <a:prstGeom prst="rect">
            <a:avLst/>
          </a:prstGeom>
        </p:spPr>
      </p:pic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3FF3D8A-ECEE-885E-D27B-5BA665B89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30" y="4590011"/>
            <a:ext cx="2749534" cy="963251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F987483-93C5-5DBD-12DC-6F85BFF89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76" y="5347130"/>
            <a:ext cx="5413413" cy="13001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D4582B-6E05-0E95-A116-79917A8019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935" y="0"/>
            <a:ext cx="4782771" cy="35772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801673-C18E-253E-1EA5-208F84A7F6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7474" y="3577213"/>
            <a:ext cx="3641962" cy="3320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600" b="1"/>
            </a:pP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Improvements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2737" y="3258717"/>
            <a:ext cx="4480560" cy="18283"/>
          </a:xfrm>
          <a:custGeom>
            <a:avLst/>
            <a:gdLst>
              <a:gd name="csX0" fmla="*/ 0 w 4480560"/>
              <a:gd name="csY0" fmla="*/ 0 h 18283"/>
              <a:gd name="csX1" fmla="*/ 595274 w 4480560"/>
              <a:gd name="csY1" fmla="*/ 0 h 18283"/>
              <a:gd name="csX2" fmla="*/ 1100938 w 4480560"/>
              <a:gd name="csY2" fmla="*/ 0 h 18283"/>
              <a:gd name="csX3" fmla="*/ 1651406 w 4480560"/>
              <a:gd name="csY3" fmla="*/ 0 h 18283"/>
              <a:gd name="csX4" fmla="*/ 2336292 w 4480560"/>
              <a:gd name="csY4" fmla="*/ 0 h 18283"/>
              <a:gd name="csX5" fmla="*/ 2931566 w 4480560"/>
              <a:gd name="csY5" fmla="*/ 0 h 18283"/>
              <a:gd name="csX6" fmla="*/ 3482035 w 4480560"/>
              <a:gd name="csY6" fmla="*/ 0 h 18283"/>
              <a:gd name="csX7" fmla="*/ 4480560 w 4480560"/>
              <a:gd name="csY7" fmla="*/ 0 h 18283"/>
              <a:gd name="csX8" fmla="*/ 4480560 w 4480560"/>
              <a:gd name="csY8" fmla="*/ 18283 h 18283"/>
              <a:gd name="csX9" fmla="*/ 3840480 w 4480560"/>
              <a:gd name="csY9" fmla="*/ 18283 h 18283"/>
              <a:gd name="csX10" fmla="*/ 3290011 w 4480560"/>
              <a:gd name="csY10" fmla="*/ 18283 h 18283"/>
              <a:gd name="csX11" fmla="*/ 2560320 w 4480560"/>
              <a:gd name="csY11" fmla="*/ 18283 h 18283"/>
              <a:gd name="csX12" fmla="*/ 1965046 w 4480560"/>
              <a:gd name="csY12" fmla="*/ 18283 h 18283"/>
              <a:gd name="csX13" fmla="*/ 1459382 w 4480560"/>
              <a:gd name="csY13" fmla="*/ 18283 h 18283"/>
              <a:gd name="csX14" fmla="*/ 774497 w 4480560"/>
              <a:gd name="csY14" fmla="*/ 18283 h 18283"/>
              <a:gd name="csX15" fmla="*/ 0 w 4480560"/>
              <a:gd name="csY15" fmla="*/ 18283 h 18283"/>
              <a:gd name="csX16" fmla="*/ 0 w 4480560"/>
              <a:gd name="csY16" fmla="*/ 0 h 182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3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1301" y="6085"/>
                  <a:pt x="4481091" y="12392"/>
                  <a:pt x="4480560" y="18283"/>
                </a:cubicBezTo>
                <a:cubicBezTo>
                  <a:pt x="4314132" y="14919"/>
                  <a:pt x="4028383" y="36627"/>
                  <a:pt x="3840480" y="18283"/>
                </a:cubicBezTo>
                <a:cubicBezTo>
                  <a:pt x="3652577" y="-61"/>
                  <a:pt x="3547615" y="2843"/>
                  <a:pt x="3290011" y="18283"/>
                </a:cubicBezTo>
                <a:cubicBezTo>
                  <a:pt x="3032407" y="33723"/>
                  <a:pt x="2830268" y="8714"/>
                  <a:pt x="2560320" y="18283"/>
                </a:cubicBezTo>
                <a:cubicBezTo>
                  <a:pt x="2290372" y="27852"/>
                  <a:pt x="2147422" y="6723"/>
                  <a:pt x="1965046" y="18283"/>
                </a:cubicBezTo>
                <a:cubicBezTo>
                  <a:pt x="1782670" y="29843"/>
                  <a:pt x="1689791" y="40675"/>
                  <a:pt x="1459382" y="18283"/>
                </a:cubicBezTo>
                <a:cubicBezTo>
                  <a:pt x="1228973" y="-4109"/>
                  <a:pt x="915486" y="36496"/>
                  <a:pt x="774497" y="18283"/>
                </a:cubicBezTo>
                <a:cubicBezTo>
                  <a:pt x="633508" y="70"/>
                  <a:pt x="361442" y="-11112"/>
                  <a:pt x="0" y="18283"/>
                </a:cubicBezTo>
                <a:cubicBezTo>
                  <a:pt x="-563" y="11432"/>
                  <a:pt x="-159" y="4269"/>
                  <a:pt x="0" y="0"/>
                </a:cubicBezTo>
                <a:close/>
              </a:path>
              <a:path w="4480560" h="18283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452" y="6702"/>
                  <a:pt x="4480053" y="10739"/>
                  <a:pt x="4480560" y="18283"/>
                </a:cubicBezTo>
                <a:cubicBezTo>
                  <a:pt x="4279652" y="-6855"/>
                  <a:pt x="4200762" y="41561"/>
                  <a:pt x="3930091" y="18283"/>
                </a:cubicBezTo>
                <a:cubicBezTo>
                  <a:pt x="3659420" y="-4995"/>
                  <a:pt x="3456052" y="22289"/>
                  <a:pt x="3290011" y="18283"/>
                </a:cubicBezTo>
                <a:cubicBezTo>
                  <a:pt x="3123970" y="14277"/>
                  <a:pt x="2882392" y="32813"/>
                  <a:pt x="2649931" y="18283"/>
                </a:cubicBezTo>
                <a:cubicBezTo>
                  <a:pt x="2417470" y="3753"/>
                  <a:pt x="2238426" y="7332"/>
                  <a:pt x="2054657" y="18283"/>
                </a:cubicBezTo>
                <a:cubicBezTo>
                  <a:pt x="1870888" y="29234"/>
                  <a:pt x="1566368" y="45035"/>
                  <a:pt x="1324966" y="18283"/>
                </a:cubicBezTo>
                <a:cubicBezTo>
                  <a:pt x="1083564" y="-8469"/>
                  <a:pt x="787410" y="10941"/>
                  <a:pt x="595274" y="18283"/>
                </a:cubicBezTo>
                <a:cubicBezTo>
                  <a:pt x="403138" y="25625"/>
                  <a:pt x="169622" y="10494"/>
                  <a:pt x="0" y="18283"/>
                </a:cubicBezTo>
                <a:cubicBezTo>
                  <a:pt x="-310" y="10292"/>
                  <a:pt x="802" y="37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125082" y="552091"/>
            <a:ext cx="622271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200" dirty="0"/>
              <a:t>• Higher sampling rate (</a:t>
            </a:r>
            <a:r>
              <a:rPr lang="en-US" sz="2200" dirty="0" err="1"/>
              <a:t>Upto</a:t>
            </a:r>
            <a:r>
              <a:rPr lang="en-US" sz="2200" dirty="0"/>
              <a:t> 500KHz wave reading)</a:t>
            </a:r>
            <a:br>
              <a:rPr lang="en-US" sz="2200" dirty="0"/>
            </a:br>
            <a:r>
              <a:rPr lang="en-US" sz="2200" dirty="0"/>
              <a:t>• RMS, duty cycle measurements</a:t>
            </a:r>
            <a:br>
              <a:rPr lang="en-US" sz="2200" dirty="0"/>
            </a:br>
            <a:r>
              <a:rPr lang="en-US" sz="2200" dirty="0"/>
              <a:t>• Data logging/export</a:t>
            </a:r>
            <a:br>
              <a:rPr lang="en-US" sz="2200" dirty="0"/>
            </a:br>
            <a:r>
              <a:rPr lang="en-US" sz="2200" dirty="0"/>
              <a:t>• Multi-channel GUI support</a:t>
            </a:r>
            <a:br>
              <a:rPr lang="en-US" sz="2200" dirty="0"/>
            </a:br>
            <a:br>
              <a:rPr lang="en-US" sz="2200" dirty="0"/>
            </a:b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E0C604-CB3A-BA29-4AEA-6AC839023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637"/>
          <a:stretch>
            <a:fillRect/>
          </a:stretch>
        </p:blipFill>
        <p:spPr>
          <a:xfrm>
            <a:off x="8671726" y="3727938"/>
            <a:ext cx="3479371" cy="31300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64096-3BC6-DBB8-9E23-850276CEF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4" r="14452" b="1"/>
          <a:stretch>
            <a:fillRect/>
          </a:stretch>
        </p:blipFill>
        <p:spPr>
          <a:xfrm>
            <a:off x="2521699" y="10"/>
            <a:ext cx="9667124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8833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3821194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600" b="1"/>
            </a:pPr>
            <a:r>
              <a:rPr lang="en-US" sz="40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981" y="2434201"/>
            <a:ext cx="3821194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 dirty="0"/>
              <a:t>• Waveform displayed in GUI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dirty="0" err="1"/>
              <a:t>Vpp</a:t>
            </a:r>
            <a:r>
              <a:rPr lang="en-US" sz="2000" dirty="0"/>
              <a:t> and frequency calculated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61" y="1119031"/>
            <a:ext cx="4618735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769" y="1396686"/>
            <a:ext cx="3239662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600" b="1"/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1458" y="941148"/>
            <a:ext cx="2987121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811" y="4780992"/>
            <a:ext cx="545957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68754" y="1526033"/>
            <a:ext cx="5534955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dirty="0"/>
              <a:t>• Portable DSO successfully demonstrated</a:t>
            </a:r>
            <a:br>
              <a:rPr lang="en-US" dirty="0"/>
            </a:br>
            <a:r>
              <a:rPr lang="en-US" dirty="0"/>
              <a:t>• Combines hardware + software for signal        visualization</a:t>
            </a:r>
            <a:br>
              <a:rPr lang="en-US" dirty="0"/>
            </a:br>
            <a:r>
              <a:rPr lang="en-US" dirty="0"/>
              <a:t>• Affordable DSOs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261</Words>
  <Application>Microsoft Office PowerPoint</Application>
  <PresentationFormat>Custom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Portable Digital Storage Oscilloscope (DSO) Project</vt:lpstr>
      <vt:lpstr>Abstract</vt:lpstr>
      <vt:lpstr>Objectives</vt:lpstr>
      <vt:lpstr>Major Components</vt:lpstr>
      <vt:lpstr>Working Principle</vt:lpstr>
      <vt:lpstr>PowerPoint Presentation</vt:lpstr>
      <vt:lpstr>PowerPoint Presentation</vt:lpstr>
      <vt:lpstr>Features</vt:lpstr>
      <vt:lpstr>Future Improvements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Gopanandhan pd</dc:creator>
  <cp:keywords/>
  <dc:description>generated using python-pptx</dc:description>
  <cp:lastModifiedBy>Gopanandhan pd</cp:lastModifiedBy>
  <cp:revision>6</cp:revision>
  <dcterms:created xsi:type="dcterms:W3CDTF">2013-01-27T09:14:16Z</dcterms:created>
  <dcterms:modified xsi:type="dcterms:W3CDTF">2026-02-18T03:28:11Z</dcterms:modified>
  <cp:category/>
</cp:coreProperties>
</file>